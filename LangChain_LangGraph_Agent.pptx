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0F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2743200" cy="762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LangChain &amp;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8CFF"/>
                </a:solidFill>
                <a:latin typeface="Microsoft YaHei"/>
              </a:defRPr>
            </a:pPr>
            <a:r>
              <a:t>Agent Building - From Concepts to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AD0"/>
                </a:solidFill>
                <a:latin typeface="Microsoft YaHei"/>
              </a:defRPr>
            </a:pPr>
            <a:r>
              <a:t>From Core Concepts to Stock Prediction Agent Full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AD0"/>
                </a:solidFill>
                <a:latin typeface="Microsoft YaHei"/>
              </a:defRPr>
            </a:pPr>
            <a:r>
              <a:t>July 2026  |  Based on Real A-Share Data  |  LLM-Driven Multi-Source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669280"/>
            <a:ext cx="1920240" cy="411480"/>
          </a:xfrm>
          <a:prstGeom prst="round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4F8CFF"/>
                </a:solidFill>
                <a:latin typeface="Microsoft YaHei"/>
              </a:defRPr>
            </a:pPr>
            <a:r>
              <a:t>StateGraph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5669280"/>
            <a:ext cx="1920240" cy="411480"/>
          </a:xfrm>
          <a:prstGeom prst="round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4F8CFF"/>
                </a:solidFill>
                <a:latin typeface="Microsoft YaHei"/>
              </a:defRPr>
            </a:pPr>
            <a:r>
              <a:t>TypedDict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5669280"/>
            <a:ext cx="1920240" cy="411480"/>
          </a:xfrm>
          <a:prstGeom prst="round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4F8CFF"/>
                </a:solidFill>
                <a:latin typeface="Microsoft YaHei"/>
              </a:defRPr>
            </a:pPr>
            <a:r>
              <a:t>Conditional Edges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5669280"/>
            <a:ext cx="1920240" cy="411480"/>
          </a:xfrm>
          <a:prstGeom prst="round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4F8CFF"/>
                </a:solidFill>
                <a:latin typeface="Microsoft YaHei"/>
              </a:defRPr>
            </a:pPr>
            <a:r>
              <a:t>Prompt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5669280"/>
            <a:ext cx="1920240" cy="411480"/>
          </a:xfrm>
          <a:prstGeom prst="round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4F8CFF"/>
                </a:solidFill>
                <a:latin typeface="Microsoft YaHei"/>
              </a:defRPr>
            </a:pPr>
            <a:r>
              <a:t>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8C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3520440"/>
            <a:ext cx="38100" cy="36576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LangChain &amp; LangGraph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794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Why do we need an agent orchestration framework?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8C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4297680"/>
            <a:ext cx="38100" cy="36576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251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LangGraph Core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StateGraph / State / Nodes / Edges /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8C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5074920"/>
            <a:ext cx="38100" cy="36576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Real Project: Stock Prediction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349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5-Node Pipeline + LLM Multi-Source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8C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5852160"/>
            <a:ext cx="38100" cy="36576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5806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Key Techniques &amp; Lessons Learned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126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Prompt Engineering / Error Handling / Serialization Tricks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1/21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1  |  LangChain &amp; LangGraph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What is LangChain?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LLM Application Framework - Connecting Models, Tools &amp;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3383280" cy="237744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338328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Core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Chains: Chain multiple LLM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988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Agents: LLM autonomously chooses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914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Tools: Encapsulate APIs / databases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0840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Memory: Conversation history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657600"/>
            <a:ext cx="3383280" cy="237744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3657600"/>
            <a:ext cx="3383280" cy="50800"/>
          </a:xfrm>
          <a:prstGeom prst="rect">
            <a:avLst/>
          </a:prstGeom>
          <a:solidFill>
            <a:srgbClr val="00C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794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F8A"/>
                </a:solidFill>
                <a:latin typeface="Microsoft YaHei"/>
              </a:defRPr>
            </a:pPr>
            <a:r>
              <a:t>Core Components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206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Chat Models: Unified LLM call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4988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Prompts: Templated prompt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7914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Retrievers: Document search &amp;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0840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Callbacks: Logging &amp; monitoring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57600"/>
            <a:ext cx="3383280" cy="237744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57600"/>
            <a:ext cx="3383280" cy="508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794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Problems Solved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206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Unify different LLM provider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4988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Manage complex multi-step reasoning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7914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Connect LLM with external data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0840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Reuse common application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2/21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1  |  LangChain &amp; LangGraph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What is LangGraph?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Stateful, Graph-Based Multi-Agent Orchestration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5303520" cy="292608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530352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LangChain vs 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LangChain: Chain is a 'line', nodes execute sequentially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F8A"/>
                </a:solidFill>
                <a:latin typeface="Microsoft YaHei"/>
              </a:defRPr>
            </a:pPr>
            <a:r>
              <a:t>LangGraph: Graph branches, loops, conditions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6012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LangGraph = Part of the LangChain ecosystem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Dedicated to complex Agent orchestration/scheduling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Still uses LangChain's LLM/Tool/Prompt underneath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566160"/>
            <a:ext cx="5303520" cy="292608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566160"/>
            <a:ext cx="5303520" cy="50800"/>
          </a:xfrm>
          <a:prstGeom prst="rect">
            <a:avLst/>
          </a:prstGeom>
          <a:solidFill>
            <a:srgbClr val="00C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F8A"/>
                </a:solidFill>
                <a:latin typeface="Microsoft YaHei"/>
              </a:defRPr>
            </a:pPr>
            <a:r>
              <a:t>LangGraph Key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Conditional Routing: Dynamically choose next node by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Loop Support: Agent can iteratively think &amp; call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State Persistence: Shared TypedDict State across all nodes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Observability: Built-in Checkpoint &amp; graph 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Streaming: stream() method for real-time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3/21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2  |  LangGraph Core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StateGraph - The Stateful Graph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The entire Agent workflow is defined as a 'graph': Nodes + Edges +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508760" cy="502920"/>
          </a:xfrm>
          <a:prstGeom prst="roundRect">
            <a:avLst/>
          </a:prstGeom>
          <a:solidFill>
            <a:srgbClr val="3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STATE</a:t>
            </a:r>
            <a:br/>
            <a:r>
              <a:t>{score, decision}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40280" y="3995928"/>
            <a:ext cx="320040" cy="182880"/>
          </a:xfrm>
          <a:prstGeom prst="rightArrow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0320" y="3840480"/>
            <a:ext cx="1508760" cy="502920"/>
          </a:xfrm>
          <a:prstGeom prst="round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evaluate</a:t>
            </a:r>
            <a:br/>
            <a:r>
              <a:t>Node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69080" y="3995928"/>
            <a:ext cx="320040" cy="182880"/>
          </a:xfrm>
          <a:prstGeom prst="rightArrow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3840480"/>
            <a:ext cx="1508760" cy="50292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route</a:t>
            </a:r>
            <a:br/>
            <a:r>
              <a:t>Router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995928"/>
            <a:ext cx="320040" cy="182880"/>
          </a:xfrm>
          <a:prstGeom prst="rightArrow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1508760" cy="502920"/>
          </a:xfrm>
          <a:prstGeom prst="roundRect">
            <a:avLst/>
          </a:prstGeom>
          <a:solidFill>
            <a:srgbClr val="00C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high</a:t>
            </a:r>
            <a:br/>
            <a:r>
              <a:t>Node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26680" y="3995928"/>
            <a:ext cx="320040" cy="182880"/>
          </a:xfrm>
          <a:prstGeom prst="rightArrow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3840480"/>
            <a:ext cx="1508760" cy="502920"/>
          </a:xfrm>
          <a:prstGeom prst="roundRect">
            <a:avLst/>
          </a:prstGeom>
          <a:solidFill>
            <a:srgbClr val="00C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medium</a:t>
            </a:r>
            <a:br/>
            <a:r>
              <a:t>Node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55480" y="3995928"/>
            <a:ext cx="320040" cy="182880"/>
          </a:xfrm>
          <a:prstGeom prst="rightArrow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0" y="3840480"/>
            <a:ext cx="1508760" cy="502920"/>
          </a:xfrm>
          <a:prstGeom prst="roundRect">
            <a:avLst/>
          </a:prstGeom>
          <a:solidFill>
            <a:srgbClr val="00C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low</a:t>
            </a:r>
            <a:br/>
            <a:r>
              <a:t>Node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State flows through all nodes, each node returns partial updates, Graph auto-merges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12080"/>
            <a:ext cx="3383280" cy="11887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338328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760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TypedDict-defined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0533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Flows through all nodes, auto-merge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5212080"/>
            <a:ext cx="3383280" cy="11887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5212080"/>
            <a:ext cx="338328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3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Nodes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5760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Python functions, receive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60533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Return partial State update as dict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5212080"/>
            <a:ext cx="3383280" cy="11887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5212080"/>
            <a:ext cx="338328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Edges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760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Define connections between nodes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60533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Normal edges / Conditional edges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4/21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2  |  LangGraph Core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State - Define Shared State with TypedDict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State is the 'memory' of the graph - all nodes follow this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5486400" cy="301752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00CF8A"/>
                </a:solidFill>
                <a:latin typeface="Cascadia Code"/>
              </a:defRPr>
            </a:pPr>
            <a:r>
              <a:t>class AgentState(TypedDict, total=False):</a:t>
            </a:r>
            <a:br/>
            <a:r>
              <a:t>    # ===== Input =====</a:t>
            </a:r>
            <a:br/>
            <a:r>
              <a:t>    stock_code: str</a:t>
            </a:r>
            <a:br/>
            <a:r>
              <a:t>    stock_name: str</a:t>
            </a:r>
            <a:br/>
            <a:r>
              <a:t>    start_date: str</a:t>
            </a:r>
            <a:br/>
            <a:r>
              <a:t>    end_date: str</a:t>
            </a:r>
            <a:br/>
            <a:r>
              <a:t>    # ===== Data Outputs =====</a:t>
            </a:r>
            <a:br/>
            <a:r>
              <a:t>    kline_data: Optional[Any]     # pd.DataFrame</a:t>
            </a:r>
            <a:br/>
            <a:r>
              <a:t>    realtime_quote: Optional[Dict]</a:t>
            </a:r>
            <a:br/>
            <a:r>
              <a:t>    financial_data: Optional[Dict]</a:t>
            </a:r>
            <a:br/>
            <a:r>
              <a:t>    news_data: Optional[List[Dict]]</a:t>
            </a:r>
            <a:br/>
            <a:r>
              <a:t>    # ===== Analysis Results =====</a:t>
            </a:r>
            <a:br/>
            <a:r>
              <a:t>    technical_analysis_result: Optional[str]</a:t>
            </a:r>
            <a:br/>
            <a:r>
              <a:t>    prediction: Optional[Dict]     # JSON</a:t>
            </a:r>
            <a:br/>
            <a:r>
              <a:t>    final_report: Optional[str]    # Markdown</a:t>
            </a:r>
            <a:br/>
            <a:r>
              <a:t>    # ===== Control =====</a:t>
            </a:r>
            <a:br/>
            <a:r>
              <a:t>    status: str</a:t>
            </a:r>
            <a:br/>
            <a:r>
              <a:t>    errors: List[str]</a:t>
            </a:r>
            <a:br/>
            <a:r>
              <a:t>    messages: Annotated[list, add_messages]</a:t>
            </a:r>
            <a:br/>
            <a:r>
              <a:t>    # ===== LLM Config =====</a:t>
            </a:r>
            <a:br/>
            <a:r>
              <a:t>    llm_model: str</a:t>
            </a:r>
            <a:br/>
            <a:r>
              <a:t>    llm_api_key: str</a:t>
            </a:r>
            <a:br/>
            <a:r>
              <a:t>    llm_base_url: str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3566160"/>
            <a:ext cx="5029200" cy="128016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3566160"/>
            <a:ext cx="502920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3703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TypedDict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Python type-hint syntax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4407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total=False -&gt; all fields optional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700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Each node only returns its own fields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5120640"/>
            <a:ext cx="5029200" cy="128016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5120640"/>
            <a:ext cx="5029200" cy="508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5257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Key Design Principles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5669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1. Organize fields by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5961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2. Separate control fields (status/errors)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62544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3. Optional fields default to None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65471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4. total=False avoids init all fields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5/21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2  |  LangGraph Core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Nodes - Node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Each node is a Python function: receives entire State -&gt; returns partial update 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5486400" cy="210312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CF8A"/>
                </a:solidFill>
                <a:latin typeface="Cascadia Code"/>
              </a:defRPr>
            </a:pPr>
            <a:r>
              <a:t>def data_collection_node(state: AgentState) -&gt; dict:</a:t>
            </a:r>
            <a:br/>
            <a:r>
              <a:t>    """Data collection node"""</a:t>
            </a:r>
            <a:br/>
            <a:r>
              <a:t>    stock_code = state["stock_code"]  # read input</a:t>
            </a:r>
            <a:br/>
            <a:br/>
            <a:r>
              <a:t>    # ... call AKShare to fetch data ...</a:t>
            </a:r>
            <a:br/>
            <a:r>
              <a:t>    kline_df = client.get_stock_kline(stock_code)</a:t>
            </a:r>
            <a:br/>
            <a:br/>
            <a:r>
              <a:t>    return {                         # partial update</a:t>
            </a:r>
            <a:br/>
            <a:r>
              <a:t>        "status": "collecting",</a:t>
            </a:r>
            <a:br/>
            <a:r>
              <a:t>        "kline_data": kline_df,      # auto-merge into State</a:t>
            </a:r>
            <a:br/>
            <a:r>
              <a:t>        "errors": [],</a:t>
            </a:r>
            <a:br/>
            <a:r>
              <a:t>    }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3566160"/>
            <a:ext cx="5029200" cy="274320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3566160"/>
            <a:ext cx="502920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3703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Node Function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Input: full State (TypedDict)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4407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F8A"/>
                </a:solidFill>
                <a:latin typeface="Microsoft YaHei"/>
              </a:defRPr>
            </a:pPr>
            <a:r>
              <a:t>Output: dict (only fields updated by this node)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700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AD0"/>
                </a:solidFill>
                <a:latin typeface="Microsoft YaHei"/>
              </a:defRPr>
            </a:pPr>
            <a:r>
              <a:t>Framework auto-merges back to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49926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812280" y="5285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Microsoft YaHei"/>
              </a:defRPr>
            </a:pPr>
            <a:r>
              <a:t>Same keys overwrite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5577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Unreturned fields keep original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5870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Immutable: do NOT mutate state, return new 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61630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812280" y="6455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27BFF"/>
                </a:solidFill>
                <a:latin typeface="Microsoft YaHei"/>
              </a:defRPr>
            </a:pPr>
            <a:r>
              <a:t>Supports async def for async nodes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6/21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2  |  LangGraph Core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Edges - Normal Edges vs Conditional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Determining 'which node goes next' - the core of Agent intelligent decision-making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5303520" cy="292608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530352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Normal Edge (add_edge)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Fixed flow: A -&gt; B -&gt;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F8A"/>
                </a:solidFill>
                <a:latin typeface="Microsoft YaHei"/>
              </a:defRPr>
            </a:pPr>
            <a:r>
              <a:t>graph.add_edge("evaluate", "high")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6012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Microsoft YaHei"/>
              </a:defRPr>
            </a:pPr>
            <a:r>
              <a:t>Use cases: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  Linear pipeline, each node's next step is fixed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  e.g.: Data -&gt; Analysis -&gt; Prediction -&gt;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566160"/>
            <a:ext cx="5303520" cy="292608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566160"/>
            <a:ext cx="5303520" cy="508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Conditional Edge (add_conditional_edges)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Dynamic routing: choose next node by State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F8A"/>
                </a:solidFill>
                <a:latin typeface="Microsoft YaHei"/>
              </a:defRPr>
            </a:pPr>
            <a:r>
              <a:t>graph.add_conditional_edges(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F8A"/>
                </a:solidFill>
                <a:latin typeface="Microsoft YaHei"/>
              </a:defRPr>
            </a:pPr>
            <a:r>
              <a:t>    "evaluate", route_fn,  # routing 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F8A"/>
                </a:solidFill>
                <a:latin typeface="Microsoft YaHei"/>
              </a:defRPr>
            </a:pPr>
            <a:r>
              <a:t>    {"high":"high", "medium":"medium", ...})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62940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Microsoft YaHei"/>
              </a:defRPr>
            </a:pPr>
            <a:r>
              <a:t>Use cases: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870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  Branch by score/sentiment/status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61630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  Agent decides which tool to call 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F8A"/>
                </a:solidFill>
                <a:latin typeface="Microsoft YaHei"/>
              </a:defRPr>
            </a:pPr>
            <a:r>
              <a:t>def route_by_score(state) -&gt; Literal["high","medium","low"]: return "high" if state["score"]&gt;0.8 else ("medium" if state["score"]&gt;0.5 else "low")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7/21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2  |  LangGraph Core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START / END / compile / invoke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Build + Compile + Execute - LangGraph's Three-Step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2606040" cy="219456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260604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1. Build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workflow = StateGraph(State)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074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workflow.add_node(...)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0001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workflow.add_edge(...)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9262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workflow.set_entry_point(...)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3566160"/>
            <a:ext cx="2606040" cy="219456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3566160"/>
            <a:ext cx="2606040" cy="50800"/>
          </a:xfrm>
          <a:prstGeom prst="rect">
            <a:avLst/>
          </a:prstGeom>
          <a:solidFill>
            <a:srgbClr val="00C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37033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F8A"/>
                </a:solidFill>
                <a:latin typeface="Microsoft YaHei"/>
              </a:defRPr>
            </a:pPr>
            <a:r>
              <a:t>2. Compile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1148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app = workflow.compile()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4074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-&gt; Validates graph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70001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-&gt; Binds Checkpoint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99262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-&gt; Returns executable CompiledGraph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566160"/>
            <a:ext cx="2606040" cy="219456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3566160"/>
            <a:ext cx="2606040" cy="508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7033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3. Execute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1148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result = app.invoke(initial_state)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4074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-&gt; Pass complete initial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70001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-&gt; Execute nodes in edge 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99262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-&gt; Return final 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3566160"/>
            <a:ext cx="2606040" cy="219456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3566160"/>
            <a:ext cx="2606040" cy="50800"/>
          </a:xfrm>
          <a:prstGeom prst="rect">
            <a:avLst/>
          </a:prstGeom>
          <a:solidFill>
            <a:srgbClr val="A2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37033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7BFF"/>
                </a:solidFill>
                <a:latin typeface="Microsoft YaHei"/>
              </a:defRPr>
            </a:pPr>
            <a:r>
              <a:t>4. Stream (Optional)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1148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for chunk in app.stream(state):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4074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    print(chunk)  # per-node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70001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-&gt; Suitable for UI real-time updates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99262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Microsoft YaHei"/>
              </a:defRPr>
            </a:pPr>
            <a:r>
              <a:t>invoke() requires a COMPLETE initial State - all non-Optional fields must have values, otherwise KeyError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8/21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2  |  LangGraph Core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Graph Visualization - Debug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Use draw_mermaid() or draw_png() to visually see the entire Agent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5303520" cy="146304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CF8A"/>
                </a:solidFill>
                <a:latin typeface="Cascadia Code"/>
              </a:defRPr>
            </a:pPr>
            <a:r>
              <a:t>graph TD;</a:t>
            </a:r>
            <a:br/>
            <a:r>
              <a:t>    __start__ --&gt; evaluate;</a:t>
            </a:r>
            <a:br/>
            <a:r>
              <a:t>    evaluate -.-&gt; high;</a:t>
            </a:r>
            <a:br/>
            <a:r>
              <a:t>    evaluate -.-&gt; medium;</a:t>
            </a:r>
            <a:br/>
            <a:r>
              <a:t>    evaluate -.-&gt; low;</a:t>
            </a:r>
            <a:br/>
            <a:r>
              <a:t>    high --&gt; __end__;</a:t>
            </a:r>
            <a:br/>
            <a:r>
              <a:t>    medium --&gt; __end__;</a:t>
            </a:r>
            <a:br/>
            <a:r>
              <a:t>    low --&gt; __end__;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12080"/>
            <a:ext cx="5303520" cy="137160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212080"/>
            <a:ext cx="530352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Rendering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760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draw_mermaid(): Generate Mermaid text -&gt; render in Jupyter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053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draw_png(): Generate PNG image -&gt; needs pygraphviz + graphviz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634593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Microsoft YaHei"/>
              </a:defRPr>
            </a:pPr>
            <a:r>
              <a:t>Windows issue: pygraphviz needs extra Graphviz system 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66385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F8A"/>
                </a:solidFill>
                <a:latin typeface="Microsoft YaHei"/>
              </a:defRPr>
            </a:pPr>
            <a:r>
              <a:t>Solution: pip install graphviz, or use Mermaid instead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566160"/>
            <a:ext cx="530352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566160"/>
            <a:ext cx="5303520" cy="50800"/>
          </a:xfrm>
          <a:prstGeom prst="rect">
            <a:avLst/>
          </a:prstGeom>
          <a:solidFill>
            <a:srgbClr val="00C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F8A"/>
                </a:solidFill>
                <a:latin typeface="Microsoft YaHei"/>
              </a:defRPr>
            </a:pPr>
            <a:r>
              <a:t>Practical Tips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Always display_graph() during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Check node count + edge count matches expectation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AD0"/>
                </a:solidFill>
                <a:latin typeface="Microsoft YaHei"/>
              </a:defRPr>
            </a:pPr>
            <a:r>
              <a:t>Conditional edges shown as dotted (-.-&gt;), normal as solid (--&gt;)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62940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8CFF"/>
                </a:solidFill>
                <a:latin typeface="Microsoft YaHei"/>
              </a:defRPr>
            </a:pPr>
            <a:r>
              <a:t>xray=True parameter: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Shows input/output State fields for each node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870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Helps locate State field mismatch issues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9/21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3  |  Real Project: Stock Prediction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Project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LangGraph 5-Node Linear Pipeline + Streamlit Frontend + AKShare Data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1508760" cy="502920"/>
          </a:xfrm>
          <a:prstGeom prst="round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1. Data Collection</a:t>
            </a:r>
            <a:br/>
            <a:r>
              <a:t>AKShare + Concurrent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65960" y="3630168"/>
            <a:ext cx="320040" cy="182880"/>
          </a:xfrm>
          <a:prstGeom prst="rightArrow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3474720"/>
            <a:ext cx="1508760" cy="502920"/>
          </a:xfrm>
          <a:prstGeom prst="roundRect">
            <a:avLst/>
          </a:prstGeom>
          <a:solidFill>
            <a:srgbClr val="00C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2. Technical Analysis</a:t>
            </a:r>
            <a:br/>
            <a:r>
              <a:t>Indicators + LLM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3630168"/>
            <a:ext cx="320040" cy="182880"/>
          </a:xfrm>
          <a:prstGeom prst="rightArrow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3474720"/>
            <a:ext cx="1508760" cy="50292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3. News Sentiment</a:t>
            </a:r>
            <a:br/>
            <a:r>
              <a:t>LLM Analysis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23560" y="3630168"/>
            <a:ext cx="320040" cy="182880"/>
          </a:xfrm>
          <a:prstGeom prst="rightArrow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3474720"/>
            <a:ext cx="1508760" cy="502920"/>
          </a:xfrm>
          <a:prstGeom prst="roundRect">
            <a:avLst/>
          </a:prstGeom>
          <a:solidFill>
            <a:srgbClr val="A2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4. Prediction</a:t>
            </a:r>
            <a:br/>
            <a:r>
              <a:t>Multi-Source Fusion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52360" y="3630168"/>
            <a:ext cx="320040" cy="182880"/>
          </a:xfrm>
          <a:prstGeom prst="rightArrow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3474720"/>
            <a:ext cx="1508760" cy="502920"/>
          </a:xfrm>
          <a:prstGeom prst="roundRect">
            <a:avLst/>
          </a:prstGeom>
          <a:solidFill>
            <a:srgbClr val="E05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5. Report Gen</a:t>
            </a:r>
            <a:br/>
            <a:r>
              <a:t>Markdown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80560"/>
            <a:ext cx="3383280" cy="201168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480560"/>
            <a:ext cx="338328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Tech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029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LangGraph: Agent workflow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3218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LangChain: Unified LLM calling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6144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AKShare: A-share data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9070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Plotly: K-line chart 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1996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Streamlit: Web UI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480560"/>
            <a:ext cx="3383280" cy="201168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480560"/>
            <a:ext cx="3383280" cy="50800"/>
          </a:xfrm>
          <a:prstGeom prst="rect">
            <a:avLst/>
          </a:prstGeom>
          <a:solidFill>
            <a:srgbClr val="00C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F8A"/>
                </a:solidFill>
                <a:latin typeface="Microsoft YaHei"/>
              </a:defRPr>
            </a:pPr>
            <a:r>
              <a:t>Analysis Dimensions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029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Technical: MA/MACD/RSI/KDJ/Bollinger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3218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News: Sentiment + Impact strength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6144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Fundamentals: PE/PB/ROE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9070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Market: Shanghai/Shenzhen/Chinext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61996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LLM: Multi-source synthesis + structured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4480560"/>
            <a:ext cx="3383280" cy="201168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4480560"/>
            <a:ext cx="3383280" cy="508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029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K-line chart + indicator overlay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53218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Trend prediction (Bullish/Bearish/Neutral)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6144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Confidence score (0.0-1.0)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9070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Target price &amp; support/resistance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61996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Full Markdown analysis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10/21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3  |  Real Project: Stock Prediction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Node 1: 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Concurrent Multi-Source Fetching + Smart Caching + Timeout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530352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530352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Data Collection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1. AKShare real-time API for A-share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2. ThreadPoolExecutor concurrent requests (K-line + Financials + News)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F8A"/>
                </a:solidFill>
                <a:latin typeface="Microsoft YaHei"/>
              </a:defRPr>
            </a:pPr>
            <a:r>
              <a:t>3. wait() + timeout prevents single API from blocking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4. Prefetch: main.py pre-fetches -&gt; node reuses, avoiding duplicate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AD0"/>
                </a:solidFill>
                <a:latin typeface="Microsoft YaHei"/>
              </a:defRPr>
            </a:pPr>
            <a:r>
              <a:t>5. Market index failure is non-blocking (try/except)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566160"/>
            <a:ext cx="530352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566160"/>
            <a:ext cx="5303520" cy="50800"/>
          </a:xfrm>
          <a:prstGeom prst="rect">
            <a:avLst/>
          </a:prstGeom>
          <a:solidFill>
            <a:srgbClr val="00C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F8A"/>
                </a:solidFill>
                <a:latin typeface="Microsoft YaHei"/>
              </a:defRPr>
            </a:pPr>
            <a:r>
              <a:t>Data Fetched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K-line historical data (pd.DataFrame)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Real-time quote (price/change%/volume)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Financial indicators (PE/PB/ROE/revenue growth)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News list (title/source/time/content)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Market indices (Shanghai/Shenzhen/Chinext)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629400" y="5870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F8A"/>
                </a:solidFill>
                <a:latin typeface="Microsoft YaHei"/>
              </a:defRPr>
            </a:pPr>
            <a:r>
              <a:t>Key: partial data missing doesn't block downstream nodes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61630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errors list collects all non-fatal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11/21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3  |  Real Project: Stock Prediction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Node 2: Technical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Compute 6 Major Technical Indicators -&gt; LLM Professional Interpretation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3383280" cy="128016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338328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MA Moving 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5/10/20/60 day 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159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Bullish/Bearish alignment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3474720"/>
            <a:ext cx="3383280" cy="128016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3474720"/>
            <a:ext cx="338328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MACD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4023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DIF/DEA/Histogram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43159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Golden/Death cross, Divergence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474720"/>
            <a:ext cx="3383280" cy="128016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3474720"/>
            <a:ext cx="338328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RSI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023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RSI6/14/24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3159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Overbought&gt;70, Oversold&lt;30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83479"/>
            <a:ext cx="3383280" cy="128016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983479"/>
            <a:ext cx="338328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206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KDJ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321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K/D/J three 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82472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Overbought/Oversold, Cross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59" y="4983479"/>
            <a:ext cx="3383280" cy="128016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59" y="4983479"/>
            <a:ext cx="338328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39" y="51206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Bollinger Bands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59" y="55321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Upper/Mid/Lower bands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59" y="582472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Contraction=breakout, Expansion=trend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983479"/>
            <a:ext cx="3383280" cy="128016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983479"/>
            <a:ext cx="338328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51206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Volume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5321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Price-volume coordination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582472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Volume ratio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LLM Analysis Framework: Trend -&gt; Indicators -&gt; Support/Resistance -&gt; Overall Score | temperature=0.1 for stable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12/21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3  |  Real Project: Stock Prediction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Node 3 &amp; 4: News Sentiment + Comprehensive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From Multi-Source Information to Structured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530352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5303520" cy="508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Node 3: News Sentiment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Input: news_data (up to 15 items)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Analysis dimensions: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1. Per-item: Bullish/Bearish/Neutral + star rating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2. Keywords: 3-5 core theme 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3. Overall sentiment: Positive/Neutral/Negative/Mixed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4. Major event risk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870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F8A"/>
                </a:solidFill>
                <a:latin typeface="Microsoft YaHei"/>
              </a:defRPr>
            </a:pPr>
            <a:r>
              <a:t>No news: gracefully skip with placeholder 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61630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temperature=0.6 -&gt; more creative interpretation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566160"/>
            <a:ext cx="530352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566160"/>
            <a:ext cx="5303520" cy="50800"/>
          </a:xfrm>
          <a:prstGeom prst="rect">
            <a:avLst/>
          </a:prstGeom>
          <a:solidFill>
            <a:srgbClr val="A2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7BFF"/>
                </a:solidFill>
                <a:latin typeface="Microsoft YaHei"/>
              </a:defRPr>
            </a:pPr>
            <a:r>
              <a:t>Node 4: Comprehensive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27BFF"/>
                </a:solidFill>
                <a:latin typeface="Microsoft YaHei"/>
              </a:defRPr>
            </a:pPr>
            <a:r>
              <a:t>Input: Technical + Sentiment + Fundamentals +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LLM synthesis -&gt; structured JSON output: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F8A"/>
                </a:solidFill>
                <a:latin typeface="Microsoft YaHei"/>
              </a:defRPr>
            </a:pPr>
            <a:r>
              <a:t>  "trend": "bullish" | "bearish" | "neutral"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F8A"/>
                </a:solidFill>
                <a:latin typeface="Microsoft YaHei"/>
              </a:defRPr>
            </a:pPr>
            <a:r>
              <a:t>  "confidence": 0.75  (0.0~1.0)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F8A"/>
                </a:solidFill>
                <a:latin typeface="Microsoft YaHei"/>
              </a:defRPr>
            </a:pPr>
            <a:r>
              <a:t>  "key_factors": [...]  (3-5 key drivers)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F8A"/>
                </a:solidFill>
                <a:latin typeface="Microsoft YaHei"/>
              </a:defRPr>
            </a:pPr>
            <a:r>
              <a:t>  "risk_warnings": [...]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870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F8A"/>
                </a:solidFill>
                <a:latin typeface="Microsoft YaHei"/>
              </a:defRPr>
            </a:pPr>
            <a:r>
              <a:t>  "price_targets": {support, resistance, ...}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61630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Microsoft YaHei"/>
              </a:defRPr>
            </a:pPr>
            <a:r>
              <a:t>Fault-tolerant: JSON parse failure -&gt; multi-layer extraction -&gt; default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64556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Validation: verify trend/confidence and fix if invalid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13/21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3  |  Real Project: Stock Prediction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Node 5: Report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Integrate All Analysis Results into a Professional Markdown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5943600" cy="301752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FFFFFF"/>
                </a:solidFill>
                <a:latin typeface="Microsoft YaHei"/>
              </a:defRPr>
            </a:pPr>
            <a:r>
              <a:t># Stock (CODE) Intelligent Analysis Report</a:t>
            </a:r>
            <a:br/>
            <a:br/>
            <a:r>
              <a:t>**Generated**: 2026-07-15 14:30:00</a:t>
            </a:r>
            <a:br/>
            <a:r>
              <a:t>**Method**: AI Multi-Source Analysis (LangGraph + LLM)</a:t>
            </a:r>
            <a:br/>
            <a:br/>
            <a:r>
              <a:t>| Price | Change% | Trend | Confidence |</a:t>
            </a:r>
            <a:br/>
            <a:r>
              <a:t>|-------|---------|-------|------------|</a:t>
            </a:r>
            <a:br/>
            <a:r>
              <a:t>| 1700.00 | +2.35% | Bullish | 75% |</a:t>
            </a:r>
            <a:br/>
            <a:br/>
            <a:r>
              <a:t>---</a:t>
            </a:r>
            <a:br/>
            <a:br/>
            <a:r>
              <a:t>## Executive Summary</a:t>
            </a:r>
            <a:br/>
            <a:r>
              <a:t>Technical + sentiment + fundamentals indicate short-term bullish...</a:t>
            </a:r>
            <a:br/>
            <a:br/>
            <a:r>
              <a:t>## Technical Analysis</a:t>
            </a:r>
            <a:br/>
            <a:r>
              <a:t>MACD golden cross formed, MA bullish alignment...</a:t>
            </a:r>
            <a:br/>
            <a:br/>
            <a:r>
              <a:t>## News Sentiment</a:t>
            </a:r>
            <a:br/>
            <a:r>
              <a:t>Recent positive news, north-bound capital inflows...</a:t>
            </a:r>
            <a:br/>
            <a:br/>
            <a:r>
              <a:t>## Fundamentals Overview</a:t>
            </a:r>
            <a:br/>
            <a:r>
              <a:t>PE 28.5 | PB 8.2 | ROE 25.3%...</a:t>
            </a:r>
            <a:br/>
            <a:br/>
            <a:r>
              <a:t>## Prediction</a:t>
            </a:r>
            <a:br/>
            <a:r>
              <a:t>- Trend: Bullish | Confidence: 75%</a:t>
            </a:r>
            <a:br/>
            <a:r>
              <a:t>- Support 1650 | Resistance 1750</a:t>
            </a:r>
            <a:br/>
            <a:br/>
            <a:r>
              <a:t>## Disclaimer</a:t>
            </a:r>
            <a:br/>
            <a:r>
              <a:t>&gt; AI-generated, for reference only, not investment advice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3566160"/>
            <a:ext cx="457200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0" y="3566160"/>
            <a:ext cx="4572000" cy="50800"/>
          </a:xfrm>
          <a:prstGeom prst="rect">
            <a:avLst/>
          </a:prstGeom>
          <a:solidFill>
            <a:srgbClr val="A2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37033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7BFF"/>
                </a:solidFill>
                <a:latin typeface="Microsoft YaHei"/>
              </a:defRPr>
            </a:pPr>
            <a:r>
              <a:t>Report Design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1. LLM integrates scattered analysis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4407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2. Auto-generates report header (price/change/trend table)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4700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3. temperature=0.3 for professional stable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49926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F8A"/>
                </a:solidFill>
                <a:latin typeface="Microsoft YaHei"/>
              </a:defRPr>
            </a:pPr>
            <a:r>
              <a:t>4. Fallback report: partial data output even on LLM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5285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60920" y="5577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Output format: Markdown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8704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-&gt; Streamlit renders directly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61630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-&gt; Supports tables, headers, quotes, 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6455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-&gt; Can export to PDF/HTML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14/21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3  |  Real Project: Stock Prediction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Streamlit Frontend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Lightweight Python Web UI, Zero Frontend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338328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338328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Page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Sidebar: stock code + date + LLM 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074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8CFF"/>
                </a:solidFill>
                <a:latin typeface="Microsoft YaHei"/>
              </a:defRPr>
            </a:pPr>
            <a:r>
              <a:t>Main area: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000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-&gt; Welcome guide (initial state)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926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-&gt; Progress bar (analyzing)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852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-&gt; K-line chart + 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577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-&gt; Prediction panel (trend+confidence+target)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870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-&gt; Analysis detail Tabs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61630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Footer: disclaimer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566160"/>
            <a:ext cx="338328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566160"/>
            <a:ext cx="3383280" cy="50800"/>
          </a:xfrm>
          <a:prstGeom prst="rect">
            <a:avLst/>
          </a:prstGeom>
          <a:solidFill>
            <a:srgbClr val="00C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F8A"/>
                </a:solidFill>
                <a:latin typeface="Microsoft YaHei"/>
              </a:defRPr>
            </a:pPr>
            <a:r>
              <a:t>Session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114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F8A"/>
                </a:solidFill>
                <a:latin typeface="Microsoft YaHei"/>
              </a:defRPr>
            </a:pPr>
            <a:r>
              <a:t>st.session_state stores: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4074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agent_state: Agent run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7000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kline_df: pre-fetched K-line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9926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analysis_done: whether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2852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analysis_running: running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577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4617720" y="5870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Microsoft YaHei"/>
              </a:defRPr>
            </a:pPr>
            <a:r>
              <a:t>Priority: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61630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main.py pre-fetches K-line -&gt; display chart -&gt;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64556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-&gt; Agent nodes reuse pre-fetched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566160"/>
            <a:ext cx="338328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566160"/>
            <a:ext cx="3383280" cy="50800"/>
          </a:xfrm>
          <a:prstGeom prst="rect">
            <a:avLst/>
          </a:prstGeom>
          <a:solidFill>
            <a:srgbClr val="A2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7BFF"/>
                </a:solidFill>
                <a:latin typeface="Microsoft YaHei"/>
              </a:defRPr>
            </a:pPr>
            <a:r>
              <a:t>UX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114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7BFF"/>
                </a:solidFill>
                <a:latin typeface="Microsoft YaHei"/>
              </a:defRPr>
            </a:pPr>
            <a:r>
              <a:t>st.status context manager: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4074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Shows real-time analysis phase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7000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-&gt; Collecting data...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9926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-&gt; Technical analysis...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2852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F8A"/>
                </a:solidFill>
                <a:latin typeface="Microsoft YaHei"/>
              </a:defRPr>
            </a:pPr>
            <a:r>
              <a:t>  -&gt; Analysis complete!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577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8275320" y="5870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8CFF"/>
                </a:solidFill>
                <a:latin typeface="Microsoft YaHei"/>
              </a:defRPr>
            </a:pPr>
            <a:r>
              <a:t>st.plotly_chart: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61630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Interactive K-line chart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64556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Supports zoom/hover/drag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15/21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3  |  Real Project: Stock Prediction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Complete Execution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From user click to final report - one complete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1051560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1051560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8CFF"/>
                </a:solidFill>
                <a:latin typeface="Microsoft YaHei"/>
              </a:defRPr>
            </a:pPr>
            <a:r>
              <a:t>1. UI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074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User fills stock code -&gt; clicks Analyze -&gt; main.py pre-fetches K-line (with timeout)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0001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-&gt; Inject kline_df + quote into prefetch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926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60120" y="5285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F8A"/>
                </a:solidFill>
                <a:latin typeface="Microsoft YaHei"/>
              </a:defRPr>
            </a:pPr>
            <a:r>
              <a:t>2. Agent Layer (run_agent)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577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Build initial AgentState -&gt; graph.invoke(initial_state)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8704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-&gt; State flows through 5 nodes sequentially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61630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60120" y="645566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3. Node Layer (5 nodes)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67482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data_collection -&gt; technical_analysis -&gt; news_sentiment -&gt; prediction -&gt;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7040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Each node: read State -&gt; execute business logic/LLM -&gt; return dict to update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73334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60120" y="76260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27BFF"/>
                </a:solidFill>
                <a:latin typeface="Microsoft YaHei"/>
              </a:defRPr>
            </a:pPr>
            <a:r>
              <a:t>4. Display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79187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Read final_state -&gt; K-line chart(Plotly) + prediction panel + analysis tabs + full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16/21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4  |  Key Techniques &amp;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Prompt Engineering - The Soul of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Good Prompts Determine Output Quality, Format, and Consistency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530352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530352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Prompt Design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1. Role Setting: Give LLM professional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F8A"/>
                </a:solidFill>
                <a:latin typeface="Microsoft YaHei"/>
              </a:defRPr>
            </a:pPr>
            <a:r>
              <a:t>   "You are a senior A-share analyst with 20 years experience"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2. Structured Framework: Clear chapters and analysis dimensions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   Trend -&gt; Indicators -&gt; Support/Resistance -&gt; Overall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3. Output Format Constraints: Specify expected output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AD0"/>
                </a:solidFill>
                <a:latin typeface="Microsoft YaHei"/>
              </a:defRPr>
            </a:pPr>
            <a:r>
              <a:t>   Technical report = Markdown, Prediction =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870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4. Examples First: Give LLM reference samples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61630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Microsoft YaHei"/>
              </a:defRPr>
            </a:pPr>
            <a:r>
              <a:t>   "Please strictly output in the following JSON format"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566160"/>
            <a:ext cx="530352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566160"/>
            <a:ext cx="5303520" cy="50800"/>
          </a:xfrm>
          <a:prstGeom prst="rect">
            <a:avLst/>
          </a:prstGeom>
          <a:solidFill>
            <a:srgbClr val="00C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F8A"/>
                </a:solidFill>
                <a:latin typeface="Microsoft YaHei"/>
              </a:defRPr>
            </a:pPr>
            <a:r>
              <a:t>Temperature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Technical Analysis: 0.1 - stable consistent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Prediction: 0.1 - reduce randomness, more reliable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Report Generation: 0.3 - natural language but not divergent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News Sentiment: 0.6 - needs some creative 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62940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Microsoft YaHei"/>
              </a:defRPr>
            </a:pPr>
            <a:r>
              <a:t>Rule of thumb: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870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Objective analysis -&gt; low temperature (0.0~0.3)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61630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Creative work -&gt; high temperature (0.5~0.8)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17/21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4  |  Key Techniques &amp;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Error Handling &amp; Fault Tolerance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Agent cannot crash entirely because one step fails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530352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530352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Multi-layer Fault Tolerance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8CFF"/>
                </a:solidFill>
                <a:latin typeface="Microsoft YaHei"/>
              </a:defRPr>
            </a:pPr>
            <a:r>
              <a:t>1. Node-level try/except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Each node independently wrapped, failure -&gt; append errors, continue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8CFF"/>
                </a:solidFill>
                <a:latin typeface="Microsoft YaHei"/>
              </a:defRPr>
            </a:pPr>
            <a:r>
              <a:t>2. Graceful degradation on missing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No K-line -&gt; "Cannot analyze"; No news -&gt; "No recent news"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8CFF"/>
                </a:solidFill>
                <a:latin typeface="Microsoft YaHei"/>
              </a:defRPr>
            </a:pPr>
            <a:r>
              <a:t>3. Non-fatal errors don't 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Market index fetch failed -&gt; still continue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870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F8A"/>
                </a:solidFill>
                <a:latin typeface="Microsoft YaHei"/>
              </a:defRPr>
            </a:pPr>
            <a:r>
              <a:t>4. JSON multi-layer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61630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json.loads -&gt; regex ```json``` -&gt; regex { } -&gt; default fallback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566160"/>
            <a:ext cx="530352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566160"/>
            <a:ext cx="5303520" cy="508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Timeout Protection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1. Data fetch: ThreadPoolExecutor + wait(timeout=N)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Any API hangs -&gt; cancel after timeout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2. K-line fetch: Future.result(timeout=20)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No response in 20s -&gt; prompt user "Network timeout, retry"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3. tenacity retry mechanism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AKShare API auto-retries 3 times, exponential backoff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870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629400" y="61630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F8A"/>
                </a:solidFill>
                <a:latin typeface="Microsoft YaHei"/>
              </a:defRPr>
            </a:pPr>
            <a:r>
              <a:t>Core philosophy: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64556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Better to output incomplete analysis than make users wait in vain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18/21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8CFF"/>
                </a:solidFill>
                <a:latin typeface="Microsoft YaHei"/>
              </a:defRPr>
            </a:pPr>
            <a:r>
              <a:t>Part 4  |  Key Techniques &amp;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Prefetch Mechanism - Bypassing Serialization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Solving the problem of LangGraph msgpack unable to serialize pd.DataFrame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530352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530352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The Problem &amp;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The Problem: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LangGraph internally uses msgpack to serialize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pd.DataFrame does NOT support msgpack serialization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Putting it directly in State -&gt; RuntimeError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012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F8A"/>
                </a:solidFill>
                <a:latin typeface="Microsoft YaHei"/>
              </a:defRPr>
            </a:pPr>
            <a:r>
              <a:t>Solution: Prefetch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870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1. main.py fetches DataFrame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61630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2. Store in module-level variable _pre_fetched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64556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3. data_collection_node reads from variable, bypasses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67482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4. State's kline_data typed as Optional[Any]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566160"/>
            <a:ext cx="5303520" cy="301752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566160"/>
            <a:ext cx="5303520" cy="50800"/>
          </a:xfrm>
          <a:prstGeom prst="rect">
            <a:avLst/>
          </a:prstGeom>
          <a:solidFill>
            <a:srgbClr val="00C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F8A"/>
                </a:solidFill>
                <a:latin typeface="Microsoft YaHei"/>
              </a:defRPr>
            </a:pPr>
            <a:r>
              <a:t>Other Lessons Learned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F8A"/>
                </a:solidFill>
                <a:latin typeface="Microsoft YaHei"/>
              </a:defRPr>
            </a:pPr>
            <a:r>
              <a:t>1. TypedDict total=False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407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All fields optional, nodes return only their own keys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700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Microsoft YaHei"/>
              </a:defRPr>
            </a:pPr>
            <a:r>
              <a:t>2. invoke() initial state must cover all required 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992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Otherwise KeyError -&gt; use total=False with .get()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285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7BFF"/>
                </a:solidFill>
                <a:latin typeface="Microsoft YaHei"/>
              </a:defRPr>
            </a:pPr>
            <a:r>
              <a:t>3. Graph cannot be modified after compile()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All nodes/edges must be added before compile()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870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Microsoft YaHei"/>
              </a:defRPr>
            </a:pPr>
            <a:r>
              <a:t>4. draw_png() needs Graphviz on Windows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61630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Recommended: use draw_mermaid() instead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64556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Microsoft YaHei"/>
              </a:defRPr>
            </a:pPr>
            <a:r>
              <a:t>5. LLM API Key should NOT be hardcoded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67482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AD0"/>
                </a:solidFill>
                <a:latin typeface="Microsoft YaHei"/>
              </a:defRPr>
            </a:pPr>
            <a:r>
              <a:t>   Pass via UI input or environment variable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19/21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37744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Summary &amp; 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AD0"/>
                </a:solidFill>
                <a:latin typeface="Microsoft YaHei"/>
              </a:defRPr>
            </a:pPr>
            <a:r>
              <a:t>Core competencies for building LangGraph Agents from scratch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2606040" cy="292608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260604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Phase 1: Core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404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StateGraph / State / Nodes / Edges / Conditional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330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compile() / invoke() / stream()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256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Graph visualization &amp; debug methods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3291840"/>
            <a:ext cx="2606040" cy="292608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3291840"/>
            <a:ext cx="2606040" cy="50800"/>
          </a:xfrm>
          <a:prstGeom prst="rect">
            <a:avLst/>
          </a:prstGeom>
          <a:solidFill>
            <a:srgbClr val="00C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34290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F8A"/>
                </a:solidFill>
                <a:latin typeface="Microsoft YaHei"/>
              </a:defRPr>
            </a:pPr>
            <a:r>
              <a:t>Phase 2: Hands-on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8404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Start with simple 3-node demo (input-&gt;process-&gt;output)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1330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Add conditional routing, experience Agent decision-making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4256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Gradually expand node count and analysis dimensions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291840"/>
            <a:ext cx="2606040" cy="292608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3291840"/>
            <a:ext cx="2606040" cy="508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4290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Phase 3: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404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Prompt Engineering: role setting, structured output, format 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1330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Fault tolerance: multi-layer try/except, timeout, retry, 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256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Frontend-backend integration: Streamlit UI + LangGraph backend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3291840"/>
            <a:ext cx="2606040" cy="2926080"/>
          </a:xfrm>
          <a:prstGeom prst="rect">
            <a:avLst/>
          </a:prstGeom>
          <a:solidFill>
            <a:srgbClr val="22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72600" y="3291840"/>
            <a:ext cx="2606040" cy="50800"/>
          </a:xfrm>
          <a:prstGeom prst="rect">
            <a:avLst/>
          </a:prstGeom>
          <a:solidFill>
            <a:srgbClr val="A2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34290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7BFF"/>
                </a:solidFill>
                <a:latin typeface="Microsoft YaHei"/>
              </a:defRPr>
            </a:pPr>
            <a:r>
              <a:t>Phase 4: Advanced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8404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Multi-Agent collaboration (Supervisor + Worker pattern)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1330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Human-in-the-loop (manual review nodes)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4256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Long-term memory &amp; RAG knowledge 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71830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AD0"/>
                </a:solidFill>
                <a:latin typeface="Microsoft YaHei"/>
              </a:defRPr>
            </a:pPr>
            <a:r>
              <a:t>Checkpoint persistence &amp; resume from breakpoint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400800"/>
            <a:ext cx="10515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F8CFF"/>
                </a:solidFill>
                <a:latin typeface="Microsoft YaHei"/>
              </a:defRPr>
            </a:pPr>
            <a:r>
              <a:t>The value of an Agent lies not in the model itself, but in how you orchestrate it to solve problems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AD0"/>
                </a:solidFill>
                <a:latin typeface="Microsoft YaHei"/>
              </a:defRPr>
            </a:pPr>
            <a:r>
              <a:t>20/21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